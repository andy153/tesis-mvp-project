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1A7A57">
              <a:alpha val="25000"/>
            </a:srgbClr>
          </a:solidFill>
          <a:ln w="12700">
            <a:solidFill>
              <a:srgbClr val="1A7A5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2EAE7D">
              <a:alpha val="20000"/>
            </a:srgbClr>
          </a:solidFill>
          <a:ln w="12700">
            <a:solidFill>
              <a:srgbClr val="2EAE7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1371600" cy="1371600"/>
          </a:xfrm>
          <a:prstGeom prst="ellipse">
            <a:avLst/>
          </a:prstGeom>
          <a:solidFill>
            <a:srgbClr val="1A7A57">
              <a:alpha val="30000"/>
            </a:srgbClr>
          </a:solidFill>
          <a:ln w="12700">
            <a:solidFill>
              <a:srgbClr val="1A7A5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3152" cy="256032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280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Trazá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cobros con prepagas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médicos especialistas independientes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3383280"/>
            <a:ext cx="5303520" cy="59436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83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Proyecto Final de Carrera — ITBA 2026 | Sector Salud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2560320" cy="0"/>
          </a:xfrm>
          <a:prstGeom prst="line">
            <a:avLst/>
          </a:prstGeom>
          <a:noFill/>
          <a:ln w="25400">
            <a:solidFill>
              <a:srgbClr val="2EAE7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188720"/>
            <a:ext cx="0" cy="2194560"/>
          </a:xfrm>
          <a:prstGeom prst="line">
            <a:avLst/>
          </a:prstGeom>
          <a:noFill/>
          <a:ln w="19050">
            <a:solidFill>
              <a:srgbClr val="2EAE7D"/>
            </a:solidFill>
            <a:prstDash val="dash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400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El problema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A5741"/>
                </a:solidFill>
              </a:rPr>
              <a:t>"El sistema está diseñado para no pagar, no para pagar."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— Médico entrevistado, clínica privada, abril 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468880"/>
            <a:ext cx="2651760" cy="23774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0" y="23317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4048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90 días para cobrar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35204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El médico realiza el trabajo hoy y cobra hasta 90 días después. Con re-facturación, hasta 6 meses.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2468880"/>
            <a:ext cx="2651760" cy="23774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06240" y="23317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40487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04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Rechazos sin visibilidad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35204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El 80% de los médicos sufre rechazos con regularidad. El 100% opera sin visibilidad completa de sus cobros.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2468880"/>
            <a:ext cx="2651760" cy="23774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0" y="2331720"/>
            <a:ext cx="640080" cy="640080"/>
          </a:xfrm>
          <a:prstGeom prst="ellipse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240487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Plata perdida para siempre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72200" y="35204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Entre USD 523 y USD 1.601 perdidos por médico por año entre rechazos definitivos y desvalorización inflacionaria.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A quién le resolvemos el problema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 médico target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7556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Especialista independiente, sin respaldo institucional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2860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Atiende en consultorio privado y/o sanatorio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4378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8163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Trabaja con 1 o más prepagas simultáneamente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74136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3467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Gestiona cobros solo, con secretaria o facturista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04488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8770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Cobra a 90 días sin saber qué fue rechazado ni por qué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663440" y="1143000"/>
            <a:ext cx="4114800" cy="155448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4663440" y="11887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AE7D"/>
                </a:solidFill>
              </a:rPr>
              <a:t>192</a:t>
            </a:r>
            <a:endParaRPr lang="en-US" sz="5200" dirty="0"/>
          </a:p>
        </p:txBody>
      </p:sp>
      <p:sp>
        <p:nvSpPr>
          <p:cNvPr id="20" name="Text 12"/>
          <p:cNvSpPr/>
          <p:nvPr/>
        </p:nvSpPr>
        <p:spPr>
          <a:xfrm>
            <a:off x="466344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FE3"/>
                </a:solidFill>
              </a:rPr>
              <a:t>pacientes promedio por mes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663440" y="2834640"/>
            <a:ext cx="1920240" cy="178308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4663440" y="2880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80%</a:t>
            </a:r>
            <a:endParaRPr lang="en-US" sz="3800" dirty="0"/>
          </a:p>
        </p:txBody>
      </p:sp>
      <p:sp>
        <p:nvSpPr>
          <p:cNvPr id="23" name="Text 15"/>
          <p:cNvSpPr/>
          <p:nvPr/>
        </p:nvSpPr>
        <p:spPr>
          <a:xfrm>
            <a:off x="466344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sufrió rechazos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con regularidad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858000" y="2834640"/>
            <a:ext cx="1920240" cy="178308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858000" y="2880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100%</a:t>
            </a:r>
            <a:endParaRPr lang="en-US" sz="3800" dirty="0"/>
          </a:p>
        </p:txBody>
      </p:sp>
      <p:sp>
        <p:nvSpPr>
          <p:cNvPr id="26" name="Text 18"/>
          <p:cNvSpPr/>
          <p:nvPr/>
        </p:nvSpPr>
        <p:spPr>
          <a:xfrm>
            <a:off x="685800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opera sin visibilidad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completa de sus cobros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Cómo lo resuelve hoy el médico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2560320" cy="26060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89888" y="1709928"/>
            <a:ext cx="694944" cy="694944"/>
          </a:xfrm>
          <a:prstGeom prst="ellipse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0" y="186629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4688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Valida credenciales, genera token y registra la prestación en la base de la prepaga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17520" y="2514600"/>
            <a:ext cx="320040" cy="0"/>
          </a:xfrm>
          <a:prstGeom prst="line">
            <a:avLst/>
          </a:prstGeom>
          <a:noFill/>
          <a:ln w="31750">
            <a:solidFill>
              <a:srgbClr val="2EAE7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46120" y="240487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AE7D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37560" y="1188720"/>
            <a:ext cx="2560320" cy="26060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188720"/>
            <a:ext cx="2560320" cy="45720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375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Médico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70248" y="1709928"/>
            <a:ext cx="694944" cy="694944"/>
          </a:xfrm>
          <a:prstGeom prst="ellipse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610" y="186629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4688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Recopila documentación protocolar. Al cierre del mes elabora el resumen práctico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97880" y="2514600"/>
            <a:ext cx="320040" cy="0"/>
          </a:xfrm>
          <a:prstGeom prst="line">
            <a:avLst/>
          </a:prstGeom>
          <a:noFill/>
          <a:ln w="31750">
            <a:solidFill>
              <a:srgbClr val="2EAE7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26480" y="240487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AE7D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1188720"/>
            <a:ext cx="2560320" cy="260604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Facturista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150608" y="1709928"/>
            <a:ext cx="694944" cy="694944"/>
          </a:xfrm>
          <a:prstGeom prst="ellipse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970" y="1866290"/>
            <a:ext cx="382219" cy="38221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55080" y="24688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Liquida ante cada prepaga. Costo: hasta 5% de la facturación (~USD 200/mes)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741"/>
                </a:solidFill>
              </a:rPr>
              <a:t>Asimetría estructural: el médico recibe entre 1,6% y 3,8% de la cuota que paga el paciente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0832"/>
          <a:ext cx="8229600" cy="82296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familiar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Honorario médico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al médico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(Swiss Medical)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$523.620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(OSDE)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$649.266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7A57">
              <a:alpha val="18000"/>
            </a:srgbClr>
          </a:solidFill>
          <a:ln w="12700">
            <a:solidFill>
              <a:srgbClr val="1A7A5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EAE7D">
              <a:alpha val="15000"/>
            </a:srgbClr>
          </a:solidFill>
          <a:ln w="12700">
            <a:solidFill>
              <a:srgbClr val="2EAE7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Nuestra solución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E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Trazá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EFE3"/>
                </a:solidFill>
              </a:rPr>
              <a:t>Una herramienta simple que te muestra,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EFE3"/>
                </a:solidFill>
              </a:rPr>
              <a:t>en tiempo real, exactamente dónde está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4EFE3"/>
                </a:solidFill>
              </a:rPr>
              <a:t>cada peso que te deben.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1737360" cy="141732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1828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Alerta rechazos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antes de vencer el plazo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040880" y="1188720"/>
            <a:ext cx="1737360" cy="141732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325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28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Dice exactamente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qué corregir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120640" y="2788920"/>
            <a:ext cx="1737360" cy="141732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26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Proyecta cuánto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cobrar este mes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040880" y="2788920"/>
            <a:ext cx="1737360" cy="141732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9260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Historial por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prepaga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520440"/>
            <a:ext cx="4389120" cy="411480"/>
          </a:xfrm>
          <a:prstGeom prst="rect">
            <a:avLst/>
          </a:prstGeom>
          <a:solidFill>
            <a:srgbClr val="113322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57200" y="3520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AE7D"/>
                </a:solidFill>
              </a:rPr>
              <a:t>No reemplaza al facturista — lo hace menos necesario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40690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4EFE3"/>
                </a:solidFill>
              </a:rPr>
              <a:t>Hace una sola cosa: que vos sepas lo que pasa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4EFE3"/>
                </a:solidFill>
              </a:rPr>
              <a:t>con tu dinero, antes de que sea tarde para actuar.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 número que importa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0" y="1097280"/>
            <a:ext cx="4572000" cy="141732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28600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AE7D"/>
                </a:solidFill>
              </a:rPr>
              <a:t>USD 523 – USD 1.601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286000" y="192024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FE3"/>
                </a:solidFill>
              </a:rPr>
              <a:t>perdidos por médico por año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697480"/>
            <a:ext cx="256032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788920"/>
            <a:ext cx="2560320" cy="8220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230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" y="3547872"/>
            <a:ext cx="25603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consultas realizadas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nunca cobradas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697480"/>
            <a:ext cx="2560320" cy="141732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788920"/>
            <a:ext cx="2560320" cy="8220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+1 mes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291840" y="3547872"/>
            <a:ext cx="25603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 facturación completa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perdido por año (peor caso)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697480"/>
            <a:ext cx="2560320" cy="141732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2788920"/>
            <a:ext cx="2560320" cy="8220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6x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217920" y="3547872"/>
            <a:ext cx="25603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más que el costo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anual del facturista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233672"/>
            <a:ext cx="8412480" cy="594360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33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5741"/>
                </a:solidFill>
              </a:rPr>
              <a:t>Con re-facturación a 6 meses y 3% de inflación mensual, el médico pierde el 16,3% del valor real del honorario — incluso cuando la prepaga finalmente paga.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Validación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2 encuestas · 46 médicos · entrevistas en profundidad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81912"/>
            <a:ext cx="457200" cy="457200"/>
          </a:xfrm>
          <a:prstGeom prst="ellipse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184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5087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AE7D"/>
                </a:solidFill>
              </a:rPr>
              <a:t>90%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331720" y="15087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usaría una herramienta centralizada (definitiva o probablemente)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226771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042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194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80%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2331720" y="21945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experimentó rechazos con cierta regularidad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008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2880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100%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2331720" y="28803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opera sin visibilidad completa de su proceso de cobros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" y="3639312"/>
            <a:ext cx="457200" cy="457200"/>
          </a:xfrm>
          <a:prstGeom prst="ellipse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7588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5661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57"/>
                </a:solidFill>
              </a:rPr>
              <a:t>50%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2331720" y="35661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gestiona las liquidaciones de forma manual o física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48640" y="4325112"/>
            <a:ext cx="457200" cy="457200"/>
          </a:xfrm>
          <a:prstGeom prst="ellipse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36168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97280" y="4251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5741"/>
                </a:solidFill>
              </a:rPr>
              <a:t>2.4/5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2331720" y="4251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satisfacción promedio con el proceso actual — muy baja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57200" y="4937760"/>
            <a:ext cx="822960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Funcionalidades más valoradas: alertas de vencimientos · proyección de cobro · panel unificado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E25"/>
                </a:solidFill>
              </a:rPr>
              <a:t>06  |  Cómo se vería la solución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515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🩺  Trazá — Panel principal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EFE3"/>
                </a:solidFill>
              </a:rPr>
              <a:t>Dr. García  ·  4 prepagas activas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1920240" cy="1005840"/>
          </a:xfrm>
          <a:prstGeom prst="rect">
            <a:avLst/>
          </a:prstGeom>
          <a:solidFill>
            <a:srgbClr val="0E3D2C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Aprobadas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E7D"/>
                </a:solidFill>
              </a:rPr>
              <a:t>$4.128.000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FE3"/>
                </a:solidFill>
              </a:rPr>
              <a:t>este mes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68880" y="1508760"/>
            <a:ext cx="1920240" cy="1005840"/>
          </a:xfrm>
          <a:prstGeom prst="rect">
            <a:avLst/>
          </a:prstGeom>
          <a:solidFill>
            <a:srgbClr val="0E3D2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Pendientes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6888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4688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FE3"/>
                </a:solidFill>
              </a:rPr>
              <a:t>en proceso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1508760"/>
            <a:ext cx="1920240" cy="1005840"/>
          </a:xfrm>
          <a:prstGeom prst="rect">
            <a:avLst/>
          </a:prstGeom>
          <a:solidFill>
            <a:srgbClr val="0E3D2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Rechazadas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FE3"/>
                </a:solidFill>
              </a:rPr>
              <a:t>requieren acción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75120" y="1508760"/>
            <a:ext cx="1920240" cy="1005840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1527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cobrar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75120" y="1783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57"/>
                </a:solidFill>
              </a:rPr>
              <a:t>$680.000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6751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FE3"/>
                </a:solidFill>
              </a:rPr>
              <a:t>próx. 30 días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2606040"/>
            <a:ext cx="5029200" cy="1691640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633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  Alertas activas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063240"/>
            <a:ext cx="4754880" cy="457200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8680" y="30632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OSDE — Consulta 14/03: rechazo por código incorrecto · vence en 5 días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630168"/>
            <a:ext cx="4754880" cy="457200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630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!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68680" y="36301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Swiss Medical — Práctica 22/03: falta diagnóstico · vence en 8 días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77840" y="2606040"/>
            <a:ext cx="3200400" cy="1691640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77840" y="2633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EFE3"/>
                </a:solidFill>
              </a:rPr>
              <a:t>Cobros por prepaga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715000" y="3506724"/>
            <a:ext cx="457200" cy="699516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23560" y="42245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FE3"/>
                </a:solidFill>
              </a:rPr>
              <a:t>OSDE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64808" y="3712464"/>
            <a:ext cx="457200" cy="493776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73368" y="42245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FE3"/>
                </a:solidFill>
              </a:rPr>
              <a:t>Swiss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214616" y="3877056"/>
            <a:ext cx="457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23176" y="42245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FE3"/>
                </a:solidFill>
              </a:rPr>
              <a:t>Galeno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964424" y="4000500"/>
            <a:ext cx="457200" cy="2057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72984" y="42245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FE3"/>
                </a:solidFill>
              </a:rPr>
              <a:t>Medicus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65760" y="44622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Interfaz de referencia — diseño orientado a la acción, no a los datos crudos.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Stack para el MVP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Criterio: herramientas gratuitas o de bajo costo que permitan validar antes de invertir en desarrollo a medida.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7276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72768"/>
            <a:ext cx="2697480" cy="384048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57276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2996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5603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Bubble.io / Softr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27889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 código · validar en días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46120" y="157276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572768"/>
            <a:ext cx="2697480" cy="384048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46120" y="157276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datos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2996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46120" y="25603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Supabase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46120" y="27889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PostgreSQL · auth incluida · gratis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157276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572768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26480" y="157276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Notificaciones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02996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25603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Twilio / WhatsApp 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26480" y="27889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Canal más efectivo en Argentina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2186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218688"/>
            <a:ext cx="2697480" cy="384048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321868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backup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675888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" y="42062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Resend / SendGrid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65760" y="4434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Gratuito en volumen bajo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46120" y="32186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46120" y="3218688"/>
            <a:ext cx="2697480" cy="384048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46120" y="321868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Hosting</a:t>
            </a:r>
            <a:endParaRPr lang="en-US" sz="11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675888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246120" y="42062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Vercel + Supabase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246120" y="4434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Gratis · deploys automáticos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26480" y="3218688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26480" y="3218688"/>
            <a:ext cx="2697480" cy="384048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126480" y="321868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Carga de datos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675888"/>
            <a:ext cx="502920" cy="5029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126480" y="42062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Excel / CSV (Opción A)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126480" y="4434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Manual · funciona desde el día 1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741"/>
                </a:solidFill>
              </a:rPr>
              <a:t>Este stack cubre el 80% del trabajo del facturista para médicos de Perfil 1 (consultorio, ambulatorio)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1A7A57">
              <a:alpha val="20000"/>
            </a:srgbClr>
          </a:solidFill>
          <a:ln w="12700">
            <a:solidFill>
              <a:srgbClr val="1A7A5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2EAE7D">
              <a:alpha val="15000"/>
            </a:srgbClr>
          </a:solidFill>
          <a:ln w="12700">
            <a:solidFill>
              <a:srgbClr val="2EAE7D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Nosotros no cambiamos el sistema.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E7D"/>
                </a:solidFill>
              </a:rPr>
              <a:t>Te damos control dentro de él.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286000" y="3108960"/>
            <a:ext cx="4572000" cy="50292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3108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Trazá — ITBA 2026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FE3"/>
                </a:solidFill>
              </a:rPr>
              <a:t>Sector Salud · Práctica médica privada en Argentina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Trazá — Presentación</dc:title>
  <dc:subject>PptxGenJS Presentation</dc:subject>
  <dc:creator>PptxGenJS</dc:creator>
  <cp:lastModifiedBy>PptxGenJS</cp:lastModifiedBy>
  <cp:revision>1</cp:revision>
  <dcterms:created xsi:type="dcterms:W3CDTF">2026-04-08T21:32:28Z</dcterms:created>
  <dcterms:modified xsi:type="dcterms:W3CDTF">2026-04-08T21:32:28Z</dcterms:modified>
</cp:coreProperties>
</file>