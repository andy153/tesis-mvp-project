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E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548640"/>
            <a:ext cx="3200400" cy="3200400"/>
          </a:xfrm>
          <a:prstGeom prst="ellipse">
            <a:avLst/>
          </a:prstGeom>
          <a:solidFill>
            <a:srgbClr val="1A7A57">
              <a:alpha val="22000"/>
            </a:srgbClr>
          </a:solidFill>
          <a:ln w="12700">
            <a:solidFill>
              <a:srgbClr val="1A7A57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91840"/>
            <a:ext cx="2560320" cy="2560320"/>
          </a:xfrm>
          <a:prstGeom prst="ellipse">
            <a:avLst/>
          </a:prstGeom>
          <a:solidFill>
            <a:srgbClr val="2EAE7D">
              <a:alpha val="18000"/>
            </a:srgbClr>
          </a:solidFill>
          <a:ln w="12700">
            <a:solidFill>
              <a:srgbClr val="2EAE7D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365760"/>
            <a:ext cx="1463040" cy="1463040"/>
          </a:xfrm>
          <a:prstGeom prst="ellipse">
            <a:avLst/>
          </a:prstGeom>
          <a:solidFill>
            <a:srgbClr val="1A7A57">
              <a:alpha val="28000"/>
            </a:srgbClr>
          </a:solidFill>
          <a:ln w="12700">
            <a:solidFill>
              <a:srgbClr val="1A7A57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88720"/>
            <a:ext cx="73152" cy="2743200"/>
          </a:xfrm>
          <a:prstGeom prst="rect">
            <a:avLst/>
          </a:prstGeom>
          <a:solidFill>
            <a:srgbClr val="2EAE7D"/>
          </a:solidFill>
          <a:ln w="12700">
            <a:solidFill>
              <a:srgbClr val="2EAE7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114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09728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Trazá</a:t>
            </a:r>
            <a:endParaRPr lang="en-US" sz="7800" dirty="0"/>
          </a:p>
        </p:txBody>
      </p:sp>
      <p:sp>
        <p:nvSpPr>
          <p:cNvPr id="8" name="Text 5"/>
          <p:cNvSpPr/>
          <p:nvPr/>
        </p:nvSpPr>
        <p:spPr>
          <a:xfrm>
            <a:off x="685800" y="22402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D4EFE3"/>
                </a:solidFill>
              </a:rPr>
              <a:t>Gestión de cobros con prepagas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D4EFE3"/>
                </a:solidFill>
              </a:rPr>
              <a:t>para médicos especialistas independientes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3337560"/>
            <a:ext cx="5120640" cy="548640"/>
          </a:xfrm>
          <a:prstGeom prst="rect">
            <a:avLst/>
          </a:prstGeom>
          <a:solidFill>
            <a:srgbClr val="2EAE7D"/>
          </a:solidFill>
          <a:ln w="12700">
            <a:solidFill>
              <a:srgbClr val="2EAE7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33375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Proyecto Final de Carrera — ITBA 2026  |  Sector Salud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548640"/>
            <a:ext cx="2011680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17920" y="2651760"/>
            <a:ext cx="2560320" cy="0"/>
          </a:xfrm>
          <a:prstGeom prst="line">
            <a:avLst/>
          </a:prstGeom>
          <a:noFill/>
          <a:ln w="25400">
            <a:solidFill>
              <a:srgbClr val="2EAE7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5741"/>
          </a:solidFill>
          <a:ln w="12700">
            <a:solidFill>
              <a:srgbClr val="0A57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 |  El problema y a quién le pasa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8288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932688"/>
            <a:ext cx="9144000" cy="658368"/>
          </a:xfrm>
          <a:prstGeom prst="rect">
            <a:avLst/>
          </a:prstGeom>
          <a:solidFill>
            <a:srgbClr val="D4EFE3"/>
          </a:solidFill>
          <a:ln w="12700">
            <a:solidFill>
              <a:srgbClr val="D4EF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93268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A5741"/>
                </a:solidFill>
              </a:rPr>
              <a:t>"El sistema está diseñado para no pagar, no para pagar."  — Médico entrevistado, clínica privada, abril 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691640"/>
            <a:ext cx="2697480" cy="2103120"/>
          </a:xfrm>
          <a:prstGeom prst="rect">
            <a:avLst/>
          </a:prstGeom>
          <a:solidFill>
            <a:srgbClr val="F5FA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80160" y="1572768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1645920"/>
            <a:ext cx="448056" cy="4480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221284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90 días para cobrar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84048" y="2651760"/>
            <a:ext cx="247802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El trabajo se hace hoy. El cobro llega en 90 días. Con re-facturación, hasta 6 meses.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154680" y="1691640"/>
            <a:ext cx="2697480" cy="2103120"/>
          </a:xfrm>
          <a:prstGeom prst="rect">
            <a:avLst/>
          </a:prstGeom>
          <a:solidFill>
            <a:srgbClr val="F5FA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160520" y="1572768"/>
            <a:ext cx="594360" cy="5943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1645920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46120" y="221284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Rechazos sin visibilidad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264408" y="2651760"/>
            <a:ext cx="247802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80% de los médicos sufre rechazos con regularidad. 100% sin visibilidad completa.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035040" y="1691640"/>
            <a:ext cx="2697480" cy="2103120"/>
          </a:xfrm>
          <a:prstGeom prst="rect">
            <a:avLst/>
          </a:prstGeom>
          <a:solidFill>
            <a:srgbClr val="F5FA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040880" y="1572768"/>
            <a:ext cx="594360" cy="594360"/>
          </a:xfrm>
          <a:prstGeom prst="ellipse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1645920"/>
            <a:ext cx="448056" cy="4480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26480" y="221284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USD 523–1.601 perdidos/año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144768" y="2651760"/>
            <a:ext cx="247802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Entre rechazos definitivos y desvalorización inflacionaria del honorario.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274320" y="3886200"/>
            <a:ext cx="8595360" cy="1143000"/>
          </a:xfrm>
          <a:prstGeom prst="rect">
            <a:avLst/>
          </a:prstGeom>
          <a:solidFill>
            <a:srgbClr val="0A5741"/>
          </a:solidFill>
          <a:ln w="12700">
            <a:solidFill>
              <a:srgbClr val="0A5741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005072"/>
            <a:ext cx="685800" cy="6858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88720" y="39136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AE7D"/>
                </a:solidFill>
              </a:rPr>
              <a:t>¿A quién le pasa?</a:t>
            </a:r>
            <a:endParaRPr lang="en-US" sz="13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008" y="4315968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63040" y="42793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FE3"/>
                </a:solidFill>
              </a:rPr>
              <a:t>Especialista independiente, sin respaldo institucional</a:t>
            </a:r>
            <a:endParaRPr lang="en-US" sz="10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4315968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096512" y="42793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FE3"/>
                </a:solidFill>
              </a:rPr>
              <a:t>Atiende en consultorio privado y/o sanatorio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4315968"/>
            <a:ext cx="201168" cy="20116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729984" y="42793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FE3"/>
                </a:solidFill>
              </a:rPr>
              <a:t>Trabaja con 1 o más prepagas simultáneamente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5741"/>
          </a:solidFill>
          <a:ln w="12700">
            <a:solidFill>
              <a:srgbClr val="0A57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|  El número que importa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8288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45920" y="1005840"/>
            <a:ext cx="5852160" cy="1417320"/>
          </a:xfrm>
          <a:prstGeom prst="rect">
            <a:avLst/>
          </a:prstGeom>
          <a:solidFill>
            <a:srgbClr val="0A5741"/>
          </a:solidFill>
          <a:ln w="12700">
            <a:solidFill>
              <a:srgbClr val="0A57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645920" y="100584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AE7D"/>
                </a:solidFill>
              </a:rPr>
              <a:t>USD 523 – USD 1.601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645920" y="1874520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FE3"/>
                </a:solidFill>
              </a:rPr>
              <a:t>perdidos por médico por año · entre rechazos definitivos y pérdida inflacionaria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2606040"/>
            <a:ext cx="2697480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0040" y="2679192"/>
            <a:ext cx="2697480" cy="84856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230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20040" y="3513125"/>
            <a:ext cx="2697480" cy="4974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FE3"/>
                </a:solidFill>
              </a:rPr>
              <a:t>consultas realizadas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EFE3"/>
                </a:solidFill>
              </a:rPr>
              <a:t>nunca cobradas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18688" y="2606040"/>
            <a:ext cx="2697480" cy="1463040"/>
          </a:xfrm>
          <a:prstGeom prst="rect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18688" y="2679192"/>
            <a:ext cx="2697480" cy="84856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+1 mes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218688" y="3513125"/>
            <a:ext cx="2697480" cy="4974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FE3"/>
                </a:solidFill>
              </a:rPr>
              <a:t>de facturación completa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EFE3"/>
                </a:solidFill>
              </a:rPr>
              <a:t>perdido/año (peor caso)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2606040"/>
            <a:ext cx="2697480" cy="1463040"/>
          </a:xfrm>
          <a:prstGeom prst="rect">
            <a:avLst/>
          </a:prstGeom>
          <a:solidFill>
            <a:srgbClr val="0A5741"/>
          </a:solidFill>
          <a:ln w="12700">
            <a:solidFill>
              <a:srgbClr val="0A57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2679192"/>
            <a:ext cx="2697480" cy="84856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6x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6126480" y="3513125"/>
            <a:ext cx="2697480" cy="4974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FE3"/>
                </a:solidFill>
              </a:rPr>
              <a:t>más que el costo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EFE3"/>
                </a:solidFill>
              </a:rPr>
              <a:t>anual del facturista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4206240"/>
            <a:ext cx="8503920" cy="594360"/>
          </a:xfrm>
          <a:prstGeom prst="rect">
            <a:avLst/>
          </a:prstGeom>
          <a:solidFill>
            <a:srgbClr val="D4EFE3"/>
          </a:solidFill>
          <a:ln w="12700">
            <a:solidFill>
              <a:srgbClr val="D4EF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5741"/>
                </a:solidFill>
              </a:rPr>
              <a:t>Con re-facturación a 6 meses y 3% de inflación mensual, el médico pierde el 16,3% del valor real del honorario — incluso cuando la prepaga finalmente paga.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2E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2926080"/>
            <a:ext cx="3200400" cy="3200400"/>
          </a:xfrm>
          <a:prstGeom prst="ellipse">
            <a:avLst/>
          </a:prstGeom>
          <a:solidFill>
            <a:srgbClr val="1A7A57">
              <a:alpha val="18000"/>
            </a:srgbClr>
          </a:solidFill>
          <a:ln w="12700">
            <a:solidFill>
              <a:srgbClr val="1A7A57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2EAE7D">
              <a:alpha val="15000"/>
            </a:srgbClr>
          </a:solidFill>
          <a:ln w="12700">
            <a:solidFill>
              <a:srgbClr val="2EAE7D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|  Nuestra solución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828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96012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2E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Trazá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D4EFE3"/>
                </a:solidFill>
              </a:rPr>
              <a:t>Una herramienta simple que te muestra,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D4EFE3"/>
                </a:solidFill>
              </a:rPr>
              <a:t>en tiempo real, exactamente dónde está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D4EFE3"/>
                </a:solidFill>
              </a:rPr>
              <a:t>cada peso que te deben.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57200" y="3310128"/>
            <a:ext cx="4389120" cy="438912"/>
          </a:xfrm>
          <a:prstGeom prst="rect">
            <a:avLst/>
          </a:prstGeom>
          <a:solidFill>
            <a:srgbClr val="113322"/>
          </a:solidFill>
          <a:ln w="12700">
            <a:solidFill>
              <a:srgbClr val="2EAE7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310128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EAE7D"/>
                </a:solidFill>
              </a:rPr>
              <a:t>No reemplaza al facturista — lo hace menos necesario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385876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4EFE3"/>
                </a:solidFill>
              </a:rPr>
              <a:t>Hace una sola cosa: que el médico sepa lo que pasa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4EFE3"/>
                </a:solidFill>
              </a:rPr>
              <a:t>con su dinero antes de que sea tarde para actuar.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212080" y="1005840"/>
            <a:ext cx="1783080" cy="1508760"/>
          </a:xfrm>
          <a:prstGeom prst="rect">
            <a:avLst/>
          </a:prstGeom>
          <a:solidFill>
            <a:srgbClr val="1A7A57"/>
          </a:solidFill>
          <a:ln w="12700">
            <a:solidFill>
              <a:srgbClr val="2EAE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1700784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Alerta rechazos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antes de vencer el plazo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150608" y="1005840"/>
            <a:ext cx="1783080" cy="1508760"/>
          </a:xfrm>
          <a:prstGeom prst="rect">
            <a:avLst/>
          </a:prstGeom>
          <a:solidFill>
            <a:srgbClr val="1A7A57"/>
          </a:solidFill>
          <a:ln w="12700">
            <a:solidFill>
              <a:srgbClr val="2EAE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88" y="114300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50608" y="1700784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Dice exactamente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qué corregir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212080" y="2670048"/>
            <a:ext cx="1783080" cy="1508760"/>
          </a:xfrm>
          <a:prstGeom prst="rect">
            <a:avLst/>
          </a:prstGeom>
          <a:solidFill>
            <a:srgbClr val="1A7A57"/>
          </a:solidFill>
          <a:ln w="12700">
            <a:solidFill>
              <a:srgbClr val="2EAE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807208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12080" y="3364992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Proyecta cuánto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cobrar este mes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7150608" y="2670048"/>
            <a:ext cx="1783080" cy="1508760"/>
          </a:xfrm>
          <a:prstGeom prst="rect">
            <a:avLst/>
          </a:prstGeom>
          <a:solidFill>
            <a:srgbClr val="1A7A57"/>
          </a:solidFill>
          <a:ln w="12700">
            <a:solidFill>
              <a:srgbClr val="2EAE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2807208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50608" y="3364992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Historial por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prepaga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|  Validación · Cómo se vería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 encuestas · 46 médicos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0040" y="1426464"/>
            <a:ext cx="4160520" cy="566928"/>
          </a:xfrm>
          <a:prstGeom prst="rect">
            <a:avLst/>
          </a:prstGeom>
          <a:solidFill>
            <a:srgbClr val="F5FA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1499616"/>
            <a:ext cx="420624" cy="420624"/>
          </a:xfrm>
          <a:prstGeom prst="ellipse">
            <a:avLst/>
          </a:prstGeom>
          <a:solidFill>
            <a:srgbClr val="2EAE7D"/>
          </a:solidFill>
          <a:ln w="12700">
            <a:solidFill>
              <a:srgbClr val="2EAE7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619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426464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AE7D"/>
                </a:solidFill>
              </a:rPr>
              <a:t>90%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938528" y="142646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usaría la herramienta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" y="2084832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84048" y="2157984"/>
            <a:ext cx="420624" cy="4206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945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2084832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80%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1938528" y="20848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sufrió rechazos regularmente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20040" y="2743200"/>
            <a:ext cx="4160520" cy="566928"/>
          </a:xfrm>
          <a:prstGeom prst="rect">
            <a:avLst/>
          </a:prstGeom>
          <a:solidFill>
            <a:srgbClr val="F5FA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84048" y="2816352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5292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274320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100%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1938528" y="27432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sin visibilidad de sus cobros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20040" y="3401568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84048" y="3474720"/>
            <a:ext cx="420624" cy="420624"/>
          </a:xfrm>
          <a:prstGeom prst="ellipse">
            <a:avLst/>
          </a:prstGeom>
          <a:solidFill>
            <a:srgbClr val="0A5741"/>
          </a:solidFill>
          <a:ln w="12700">
            <a:solidFill>
              <a:srgbClr val="0A5741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511296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68680" y="3401568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741"/>
                </a:solidFill>
              </a:rPr>
              <a:t>2.4/5</a:t>
            </a:r>
            <a:endParaRPr lang="en-US" sz="2000" dirty="0"/>
          </a:p>
        </p:txBody>
      </p:sp>
      <p:sp>
        <p:nvSpPr>
          <p:cNvPr id="25" name="Text 18"/>
          <p:cNvSpPr/>
          <p:nvPr/>
        </p:nvSpPr>
        <p:spPr>
          <a:xfrm>
            <a:off x="1938528" y="34015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satisfacción con el proceso actual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320040" y="4059936"/>
            <a:ext cx="4160520" cy="566928"/>
          </a:xfrm>
          <a:prstGeom prst="rect">
            <a:avLst/>
          </a:prstGeom>
          <a:solidFill>
            <a:srgbClr val="F5FA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384048" y="4133088"/>
            <a:ext cx="420624" cy="420624"/>
          </a:xfrm>
          <a:prstGeom prst="ellipse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69664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68680" y="405993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A57"/>
                </a:solidFill>
              </a:rPr>
              <a:t>50%</a:t>
            </a:r>
            <a:endParaRPr lang="en-US" sz="2000" dirty="0"/>
          </a:p>
        </p:txBody>
      </p:sp>
      <p:sp>
        <p:nvSpPr>
          <p:cNvPr id="30" name="Text 22"/>
          <p:cNvSpPr/>
          <p:nvPr/>
        </p:nvSpPr>
        <p:spPr>
          <a:xfrm>
            <a:off x="1938528" y="405993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gestiona liquidaciones manual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4709160" y="960120"/>
            <a:ext cx="4114800" cy="4096512"/>
          </a:xfrm>
          <a:prstGeom prst="rect">
            <a:avLst/>
          </a:prstGeom>
          <a:solidFill>
            <a:srgbClr val="0E3D2C"/>
          </a:solidFill>
          <a:ln w="12700">
            <a:solidFill>
              <a:srgbClr val="1A7A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4709160" y="960120"/>
            <a:ext cx="4114800" cy="384048"/>
          </a:xfrm>
          <a:prstGeom prst="rect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4800600" y="960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🩺  Trazá — Panel principal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7132320" y="9601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4EFE3"/>
                </a:solidFill>
              </a:rPr>
              <a:t>4 prepagas activas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4754880" y="1389888"/>
            <a:ext cx="1920240" cy="859536"/>
          </a:xfrm>
          <a:prstGeom prst="rect">
            <a:avLst/>
          </a:prstGeom>
          <a:solidFill>
            <a:srgbClr val="133D2A"/>
          </a:solidFill>
          <a:ln w="12700">
            <a:solidFill>
              <a:srgbClr val="2EAE7D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4754880" y="142646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Aprobadas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4754880" y="16367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AE7D"/>
                </a:solidFill>
              </a:rPr>
              <a:t>$4.128.000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4754880" y="197510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EFE3"/>
                </a:solidFill>
              </a:rPr>
              <a:t>este mes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6766560" y="1389888"/>
            <a:ext cx="1920240" cy="859536"/>
          </a:xfrm>
          <a:prstGeom prst="rect">
            <a:avLst/>
          </a:prstGeom>
          <a:solidFill>
            <a:srgbClr val="133D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6766560" y="142646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Pendientes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6766560" y="16367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12</a:t>
            </a:r>
            <a:endParaRPr lang="en-US" sz="1600" dirty="0"/>
          </a:p>
        </p:txBody>
      </p:sp>
      <p:sp>
        <p:nvSpPr>
          <p:cNvPr id="42" name="Text 34"/>
          <p:cNvSpPr/>
          <p:nvPr/>
        </p:nvSpPr>
        <p:spPr>
          <a:xfrm>
            <a:off x="6766560" y="197510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EFE3"/>
                </a:solidFill>
              </a:rPr>
              <a:t>en proceso</a:t>
            </a:r>
            <a:endParaRPr lang="en-US" sz="850" dirty="0"/>
          </a:p>
        </p:txBody>
      </p:sp>
      <p:sp>
        <p:nvSpPr>
          <p:cNvPr id="43" name="Shape 35"/>
          <p:cNvSpPr/>
          <p:nvPr/>
        </p:nvSpPr>
        <p:spPr>
          <a:xfrm>
            <a:off x="4754880" y="2322576"/>
            <a:ext cx="1920240" cy="859536"/>
          </a:xfrm>
          <a:prstGeom prst="rect">
            <a:avLst/>
          </a:prstGeom>
          <a:solidFill>
            <a:srgbClr val="133D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4754880" y="23591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Rechazadas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4754880" y="256946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3</a:t>
            </a:r>
            <a:endParaRPr lang="en-US" sz="1600" dirty="0"/>
          </a:p>
        </p:txBody>
      </p:sp>
      <p:sp>
        <p:nvSpPr>
          <p:cNvPr id="46" name="Text 38"/>
          <p:cNvSpPr/>
          <p:nvPr/>
        </p:nvSpPr>
        <p:spPr>
          <a:xfrm>
            <a:off x="4754880" y="29077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EFE3"/>
                </a:solidFill>
              </a:rPr>
              <a:t>→ acción</a:t>
            </a:r>
            <a:endParaRPr lang="en-US" sz="850" dirty="0"/>
          </a:p>
        </p:txBody>
      </p:sp>
      <p:sp>
        <p:nvSpPr>
          <p:cNvPr id="47" name="Shape 39"/>
          <p:cNvSpPr/>
          <p:nvPr/>
        </p:nvSpPr>
        <p:spPr>
          <a:xfrm>
            <a:off x="6766560" y="2322576"/>
            <a:ext cx="1920240" cy="859536"/>
          </a:xfrm>
          <a:prstGeom prst="rect">
            <a:avLst/>
          </a:prstGeom>
          <a:solidFill>
            <a:srgbClr val="133D2A"/>
          </a:solidFill>
          <a:ln w="12700">
            <a:solidFill>
              <a:srgbClr val="1A7A57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6766560" y="23591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 cobrar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6766560" y="256946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A57"/>
                </a:solidFill>
              </a:rPr>
              <a:t>$680.000</a:t>
            </a:r>
            <a:endParaRPr lang="en-US" sz="1600" dirty="0"/>
          </a:p>
        </p:txBody>
      </p:sp>
      <p:sp>
        <p:nvSpPr>
          <p:cNvPr id="50" name="Text 42"/>
          <p:cNvSpPr/>
          <p:nvPr/>
        </p:nvSpPr>
        <p:spPr>
          <a:xfrm>
            <a:off x="6766560" y="29077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EFE3"/>
                </a:solidFill>
              </a:rPr>
              <a:t>próx. 30 días</a:t>
            </a:r>
            <a:endParaRPr lang="en-US" sz="850" dirty="0"/>
          </a:p>
        </p:txBody>
      </p:sp>
      <p:sp>
        <p:nvSpPr>
          <p:cNvPr id="51" name="Shape 43"/>
          <p:cNvSpPr/>
          <p:nvPr/>
        </p:nvSpPr>
        <p:spPr>
          <a:xfrm>
            <a:off x="4754880" y="3310128"/>
            <a:ext cx="3977640" cy="274320"/>
          </a:xfrm>
          <a:prstGeom prst="rect">
            <a:avLst/>
          </a:prstGeom>
          <a:solidFill>
            <a:srgbClr val="0E3D2C"/>
          </a:solidFill>
          <a:ln w="12700">
            <a:solidFill>
              <a:srgbClr val="0E3D2C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4800600" y="33101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⚠  Alertas activas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4754880" y="3630168"/>
            <a:ext cx="3977640" cy="402336"/>
          </a:xfrm>
          <a:prstGeom prst="rect">
            <a:avLst/>
          </a:prstGeom>
          <a:solidFill>
            <a:srgbClr val="1A5C42"/>
          </a:solidFill>
          <a:ln w="12700">
            <a:solidFill>
              <a:srgbClr val="1A5C42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4791456" y="3630168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!</a:t>
            </a:r>
            <a:endParaRPr lang="en-US" sz="1300" dirty="0"/>
          </a:p>
        </p:txBody>
      </p:sp>
      <p:sp>
        <p:nvSpPr>
          <p:cNvPr id="55" name="Text 47"/>
          <p:cNvSpPr/>
          <p:nvPr/>
        </p:nvSpPr>
        <p:spPr>
          <a:xfrm>
            <a:off x="5084064" y="363016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OSDE — código incorrecto · vence en 5 días</a:t>
            </a:r>
            <a:endParaRPr lang="en-US" sz="1000" dirty="0"/>
          </a:p>
        </p:txBody>
      </p:sp>
      <p:sp>
        <p:nvSpPr>
          <p:cNvPr id="56" name="Shape 48"/>
          <p:cNvSpPr/>
          <p:nvPr/>
        </p:nvSpPr>
        <p:spPr>
          <a:xfrm>
            <a:off x="4754880" y="4105656"/>
            <a:ext cx="3977640" cy="402336"/>
          </a:xfrm>
          <a:prstGeom prst="rect">
            <a:avLst/>
          </a:prstGeom>
          <a:solidFill>
            <a:srgbClr val="1A5C42"/>
          </a:solidFill>
          <a:ln w="12700">
            <a:solidFill>
              <a:srgbClr val="1A5C42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4791456" y="4105656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!</a:t>
            </a:r>
            <a:endParaRPr lang="en-US" sz="1300" dirty="0"/>
          </a:p>
        </p:txBody>
      </p:sp>
      <p:sp>
        <p:nvSpPr>
          <p:cNvPr id="58" name="Text 50"/>
          <p:cNvSpPr/>
          <p:nvPr/>
        </p:nvSpPr>
        <p:spPr>
          <a:xfrm>
            <a:off x="5084064" y="410565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Swiss Medical — falta diagnóstico · 8 días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2E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2743200" cy="2743200"/>
          </a:xfrm>
          <a:prstGeom prst="ellipse">
            <a:avLst/>
          </a:prstGeom>
          <a:solidFill>
            <a:srgbClr val="1A7A57">
              <a:alpha val="20000"/>
            </a:srgbClr>
          </a:solidFill>
          <a:ln w="12700">
            <a:solidFill>
              <a:srgbClr val="1A7A5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474720"/>
            <a:ext cx="2560320" cy="2560320"/>
          </a:xfrm>
          <a:prstGeom prst="ellipse">
            <a:avLst/>
          </a:prstGeom>
          <a:solidFill>
            <a:srgbClr val="2EAE7D">
              <a:alpha val="16000"/>
            </a:srgbClr>
          </a:solidFill>
          <a:ln w="12700">
            <a:solidFill>
              <a:srgbClr val="2EAE7D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|  Stack para el MVP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82880"/>
            <a:ext cx="54864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005840"/>
            <a:ext cx="2743200" cy="1417320"/>
          </a:xfrm>
          <a:prstGeom prst="rect">
            <a:avLst/>
          </a:prstGeom>
          <a:solidFill>
            <a:srgbClr val="0E3D2C"/>
          </a:solidFill>
          <a:ln w="12700">
            <a:solidFill>
              <a:srgbClr val="2EAE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005840"/>
            <a:ext cx="2743200" cy="365760"/>
          </a:xfrm>
          <a:prstGeom prst="rect">
            <a:avLst/>
          </a:prstGeom>
          <a:solidFill>
            <a:srgbClr val="2EAE7D"/>
          </a:solidFill>
          <a:ln w="12700">
            <a:solidFill>
              <a:srgbClr val="2EAE7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1435608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1965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Bubble.io / Softr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20040" y="21945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EFE3"/>
                </a:solidFill>
              </a:rPr>
              <a:t>Sin código · validar en días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227832" y="1005840"/>
            <a:ext cx="2743200" cy="1417320"/>
          </a:xfrm>
          <a:prstGeom prst="rect">
            <a:avLst/>
          </a:prstGeom>
          <a:solidFill>
            <a:srgbClr val="0E3D2C"/>
          </a:solidFill>
          <a:ln w="12700">
            <a:solidFill>
              <a:srgbClr val="1A7A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27832" y="1005840"/>
            <a:ext cx="2743200" cy="365760"/>
          </a:xfrm>
          <a:prstGeom prst="rect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27832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 de datos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3560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27832" y="1965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Supabase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3227832" y="21945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EFE3"/>
                </a:solidFill>
              </a:rPr>
              <a:t>PostgreSQL · gratis · auth incluida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135624" y="1005840"/>
            <a:ext cx="2743200" cy="1417320"/>
          </a:xfrm>
          <a:prstGeom prst="rect">
            <a:avLst/>
          </a:prstGeom>
          <a:solidFill>
            <a:srgbClr val="0E3D2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35624" y="1005840"/>
            <a:ext cx="27432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135624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Notificaciones</a:t>
            </a:r>
            <a:endParaRPr lang="en-US" sz="1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1435608"/>
            <a:ext cx="512064" cy="5120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35624" y="1965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Twilio / WhatsApp API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135624" y="21945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EFE3"/>
                </a:solidFill>
              </a:rPr>
              <a:t>Canal más efectivo en Argentina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0040" y="2578608"/>
            <a:ext cx="2743200" cy="1417320"/>
          </a:xfrm>
          <a:prstGeom prst="rect">
            <a:avLst/>
          </a:prstGeom>
          <a:solidFill>
            <a:srgbClr val="0E3D2C"/>
          </a:solidFill>
          <a:ln w="12700">
            <a:solidFill>
              <a:srgbClr val="0A57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" y="2578608"/>
            <a:ext cx="2743200" cy="365760"/>
          </a:xfrm>
          <a:prstGeom prst="rect">
            <a:avLst/>
          </a:prstGeom>
          <a:solidFill>
            <a:srgbClr val="0A5741"/>
          </a:solidFill>
          <a:ln w="12700">
            <a:solidFill>
              <a:srgbClr val="0A5741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20040" y="2578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Email backup</a:t>
            </a:r>
            <a:endParaRPr lang="en-US" sz="11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5608" y="3008376"/>
            <a:ext cx="512064" cy="51206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20040" y="3538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Resend / SendGrid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320040" y="37673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EFE3"/>
                </a:solidFill>
              </a:rPr>
              <a:t>Gratuito en volumen bajo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3227832" y="2578608"/>
            <a:ext cx="2743200" cy="1417320"/>
          </a:xfrm>
          <a:prstGeom prst="rect">
            <a:avLst/>
          </a:prstGeom>
          <a:solidFill>
            <a:srgbClr val="0E3D2C"/>
          </a:solidFill>
          <a:ln w="12700">
            <a:solidFill>
              <a:srgbClr val="2EAE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227832" y="2578608"/>
            <a:ext cx="2743200" cy="365760"/>
          </a:xfrm>
          <a:prstGeom prst="rect">
            <a:avLst/>
          </a:prstGeom>
          <a:solidFill>
            <a:srgbClr val="2EAE7D"/>
          </a:solidFill>
          <a:ln w="12700">
            <a:solidFill>
              <a:srgbClr val="2EAE7D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227832" y="2578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Hosting</a:t>
            </a:r>
            <a:endParaRPr lang="en-US" sz="11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008376"/>
            <a:ext cx="512064" cy="51206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227832" y="3538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Vercel + Supabase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3227832" y="37673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EFE3"/>
                </a:solidFill>
              </a:rPr>
              <a:t>Gratis · deploys automáticos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6135624" y="2578608"/>
            <a:ext cx="2743200" cy="1417320"/>
          </a:xfrm>
          <a:prstGeom prst="rect">
            <a:avLst/>
          </a:prstGeom>
          <a:solidFill>
            <a:srgbClr val="0E3D2C"/>
          </a:solidFill>
          <a:ln w="12700">
            <a:solidFill>
              <a:srgbClr val="1A7A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6135624" y="2578608"/>
            <a:ext cx="2743200" cy="365760"/>
          </a:xfrm>
          <a:prstGeom prst="rect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6135624" y="2578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Carga de datos</a:t>
            </a:r>
            <a:endParaRPr lang="en-US" sz="11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1192" y="3008376"/>
            <a:ext cx="512064" cy="51206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135624" y="3538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Excel / CSV</a:t>
            </a:r>
            <a:endParaRPr lang="en-US" sz="1150" dirty="0"/>
          </a:p>
        </p:txBody>
      </p:sp>
      <p:sp>
        <p:nvSpPr>
          <p:cNvPr id="42" name="Text 33"/>
          <p:cNvSpPr/>
          <p:nvPr/>
        </p:nvSpPr>
        <p:spPr>
          <a:xfrm>
            <a:off x="6135624" y="37673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EFE3"/>
                </a:solidFill>
              </a:rPr>
              <a:t>Manual · funciona desde el día 1</a:t>
            </a:r>
            <a:endParaRPr lang="en-US" sz="950" dirty="0"/>
          </a:p>
        </p:txBody>
      </p:sp>
      <p:sp>
        <p:nvSpPr>
          <p:cNvPr id="43" name="Shape 34"/>
          <p:cNvSpPr/>
          <p:nvPr/>
        </p:nvSpPr>
        <p:spPr>
          <a:xfrm>
            <a:off x="0" y="4315968"/>
            <a:ext cx="9144000" cy="822960"/>
          </a:xfrm>
          <a:prstGeom prst="rect">
            <a:avLst/>
          </a:prstGeom>
          <a:solidFill>
            <a:srgbClr val="1A7A57"/>
          </a:solidFill>
          <a:ln w="12700">
            <a:solidFill>
              <a:srgbClr val="1A7A57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4407408"/>
            <a:ext cx="548640" cy="54864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14400" y="431596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Nosotros no cambiamos el sistema.  </a:t>
            </a:r>
            <a:endParaRPr lang="en-US" sz="1700" dirty="0"/>
          </a:p>
        </p:txBody>
      </p:sp>
      <p:sp>
        <p:nvSpPr>
          <p:cNvPr id="46" name="Text 36"/>
          <p:cNvSpPr/>
          <p:nvPr/>
        </p:nvSpPr>
        <p:spPr>
          <a:xfrm>
            <a:off x="4754880" y="4315968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AE7D"/>
                </a:solidFill>
              </a:rPr>
              <a:t>Te damos control dentro de él.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Trazá — Presentación</dc:title>
  <dc:subject>PptxGenJS Presentation</dc:subject>
  <dc:creator>PptxGenJS</dc:creator>
  <cp:lastModifiedBy>PptxGenJS</cp:lastModifiedBy>
  <cp:revision>1</cp:revision>
  <dcterms:created xsi:type="dcterms:W3CDTF">2026-04-08T21:37:58Z</dcterms:created>
  <dcterms:modified xsi:type="dcterms:W3CDTF">2026-04-08T21:37:58Z</dcterms:modified>
</cp:coreProperties>
</file>